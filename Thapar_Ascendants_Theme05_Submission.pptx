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1097280"/>
            <a:ext cx="182880" cy="1828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1828800"/>
            <a:ext cx="219456" cy="21945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2743200"/>
            <a:ext cx="182880" cy="18288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064240" y="3840480"/>
            <a:ext cx="201168" cy="20116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966960" y="4846320"/>
            <a:ext cx="219456" cy="21945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698480" y="5577840"/>
            <a:ext cx="182880" cy="18288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052560" y="1737360"/>
            <a:ext cx="164592" cy="16459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95360" y="2926080"/>
            <a:ext cx="201168" cy="20116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869680" y="4023360"/>
            <a:ext cx="164592" cy="164592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V="1">
            <a:off x="9098280" y="1143000"/>
            <a:ext cx="1143000" cy="685800"/>
          </a:xfrm>
          <a:prstGeom prst="line">
            <a:avLst/>
          </a:prstGeom>
          <a:ln w="15240">
            <a:solidFill>
              <a:srgbClr val="E0DD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241280" y="1143000"/>
            <a:ext cx="731520" cy="685800"/>
          </a:xfrm>
          <a:prstGeom prst="line">
            <a:avLst/>
          </a:prstGeom>
          <a:ln w="15240">
            <a:solidFill>
              <a:srgbClr val="E0DD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0515600" y="1828800"/>
            <a:ext cx="457200" cy="914400"/>
          </a:xfrm>
          <a:prstGeom prst="line">
            <a:avLst/>
          </a:prstGeom>
          <a:ln w="15240">
            <a:solidFill>
              <a:srgbClr val="E0DD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515600" y="2743200"/>
            <a:ext cx="548640" cy="1097280"/>
          </a:xfrm>
          <a:prstGeom prst="line">
            <a:avLst/>
          </a:prstGeom>
          <a:ln w="15240">
            <a:solidFill>
              <a:srgbClr val="E0DD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9966960" y="3840480"/>
            <a:ext cx="1097280" cy="1005840"/>
          </a:xfrm>
          <a:prstGeom prst="line">
            <a:avLst/>
          </a:prstGeom>
          <a:ln w="15240">
            <a:solidFill>
              <a:srgbClr val="E0DD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966960" y="4846320"/>
            <a:ext cx="731520" cy="731520"/>
          </a:xfrm>
          <a:prstGeom prst="line">
            <a:avLst/>
          </a:prstGeom>
          <a:ln w="15240">
            <a:solidFill>
              <a:srgbClr val="E0DD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595360" y="2743200"/>
            <a:ext cx="1920240" cy="182880"/>
          </a:xfrm>
          <a:prstGeom prst="line">
            <a:avLst/>
          </a:prstGeom>
          <a:ln w="15240">
            <a:solidFill>
              <a:srgbClr val="E0DD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869680" y="4023360"/>
            <a:ext cx="1097280" cy="822960"/>
          </a:xfrm>
          <a:prstGeom prst="line">
            <a:avLst/>
          </a:prstGeom>
          <a:ln w="15240">
            <a:solidFill>
              <a:srgbClr val="E0DD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8595360" y="1828800"/>
            <a:ext cx="502920" cy="1097280"/>
          </a:xfrm>
          <a:prstGeom prst="line">
            <a:avLst/>
          </a:prstGeom>
          <a:ln w="15240">
            <a:solidFill>
              <a:srgbClr val="E0DD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13232" y="594360"/>
            <a:ext cx="3337560" cy="329184"/>
          </a:xfrm>
          <a:prstGeom prst="roundRect">
            <a:avLst/>
          </a:prstGeom>
          <a:solidFill>
            <a:srgbClr val="EEE8FF"/>
          </a:solidFill>
          <a:ln w="12700">
            <a:solidFill>
              <a:srgbClr val="EE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621792"/>
            <a:ext cx="322783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000" b="1">
                <a:solidFill>
                  <a:srgbClr val="6D28D9"/>
                </a:solidFill>
                <a:latin typeface="Aptos"/>
              </a:rPr>
              <a:t>SAMSUNG PRISM • 3rd EDITION • 2026–27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1417320"/>
            <a:ext cx="667512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4200" b="1">
                <a:solidFill>
                  <a:srgbClr val="171126"/>
                </a:solidFill>
                <a:latin typeface="Aptos"/>
              </a:rPr>
              <a:t>ASCENDANTS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2148840"/>
            <a:ext cx="704088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800" b="1">
                <a:solidFill>
                  <a:srgbClr val="6D28D9"/>
                </a:solidFill>
                <a:latin typeface="Aptos"/>
              </a:rPr>
              <a:t>Interruptible Real-Time Agents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2852928"/>
            <a:ext cx="1828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Aptos"/>
              </a:rPr>
              <a:t>Theme 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3429000"/>
            <a:ext cx="713232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700" b="0">
                <a:solidFill>
                  <a:srgbClr val="5C556D"/>
                </a:solidFill>
                <a:latin typeface="Aptos"/>
              </a:rPr>
              <a:t>A real-time agent core that stays responsive, works asynchronously,
and safely recovers when the user changes intent mid-task.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8" y="4846320"/>
            <a:ext cx="1234440" cy="329184"/>
          </a:xfrm>
          <a:prstGeom prst="roundRect">
            <a:avLst/>
          </a:prstGeom>
          <a:solidFill>
            <a:srgbClr val="E4F8F5"/>
          </a:solidFill>
          <a:ln w="12700">
            <a:solidFill>
              <a:srgbClr val="E4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1" y="4873752"/>
            <a:ext cx="112471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100" b="1">
                <a:solidFill>
                  <a:srgbClr val="0D9488"/>
                </a:solidFill>
                <a:latin typeface="Aptos"/>
              </a:rPr>
              <a:t>THAPAR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103120" y="4846320"/>
            <a:ext cx="1920240" cy="329184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E8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57984" y="4873752"/>
            <a:ext cx="181051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100" b="1">
                <a:solidFill>
                  <a:srgbClr val="2563EB"/>
                </a:solidFill>
                <a:latin typeface="Aptos"/>
              </a:rPr>
              <a:t>TEAM: ASCENDANTS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60520" y="4846320"/>
            <a:ext cx="2148840" cy="329184"/>
          </a:xfrm>
          <a:prstGeom prst="roundRect">
            <a:avLst/>
          </a:prstGeom>
          <a:solidFill>
            <a:srgbClr val="EEE8FF"/>
          </a:solidFill>
          <a:ln w="12700">
            <a:solidFill>
              <a:srgbClr val="EE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15383" y="4873752"/>
            <a:ext cx="203911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100" b="1">
                <a:solidFill>
                  <a:srgbClr val="6D28D9"/>
                </a:solidFill>
                <a:latin typeface="Aptos"/>
              </a:rPr>
              <a:t>PROJECT: ASCENDANTS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5623560"/>
            <a:ext cx="68580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0">
                <a:solidFill>
                  <a:srgbClr val="5C556D"/>
                </a:solidFill>
                <a:latin typeface="Aptos"/>
              </a:rPr>
              <a:t>Team member / contact / GitHub details to be inserted in the final submission form.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263640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900" b="1">
                <a:solidFill>
                  <a:srgbClr val="5C556D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99669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700" b="1">
                <a:solidFill>
                  <a:srgbClr val="6D28D9"/>
                </a:solidFill>
                <a:latin typeface="Aptos"/>
              </a:rPr>
              <a:t>Theme &amp;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14400"/>
            <a:ext cx="10607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50" b="0">
                <a:solidFill>
                  <a:srgbClr val="5C556D"/>
                </a:solidFill>
                <a:latin typeface="Aptos"/>
              </a:rPr>
              <a:t>Why interruptible real-time agents need a different control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93192"/>
            <a:ext cx="411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1100" b="1">
                <a:solidFill>
                  <a:srgbClr val="6D28D9"/>
                </a:solidFill>
                <a:latin typeface="Aptos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07592"/>
            <a:ext cx="10881360" cy="16459"/>
          </a:xfrm>
          <a:prstGeom prst="rect">
            <a:avLst/>
          </a:prstGeom>
          <a:solidFill>
            <a:srgbClr val="E0D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27632"/>
            <a:ext cx="5166360" cy="4343400"/>
          </a:xfrm>
          <a:prstGeom prst="roundRect">
            <a:avLst/>
          </a:prstGeom>
          <a:solidFill>
            <a:srgbClr val="F8F7FC"/>
          </a:solidFill>
          <a:ln w="12700">
            <a:solidFill>
              <a:srgbClr val="E0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874519"/>
            <a:ext cx="1234440" cy="329184"/>
          </a:xfrm>
          <a:prstGeom prst="roundRect">
            <a:avLst/>
          </a:prstGeom>
          <a:solidFill>
            <a:srgbClr val="FFEFF3"/>
          </a:solidFill>
          <a:ln w="12700">
            <a:solidFill>
              <a:srgbClr val="FF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1901951"/>
            <a:ext cx="112471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000" b="1">
                <a:solidFill>
                  <a:srgbClr val="DC2650"/>
                </a:solidFill>
                <a:latin typeface="Aptos"/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452628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400" b="1">
                <a:solidFill>
                  <a:srgbClr val="171126"/>
                </a:solidFill>
                <a:latin typeface="Aptos"/>
              </a:rPr>
              <a:t>Half-duplex assistants break when users interrupt.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127248"/>
            <a:ext cx="4526280" cy="1965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5C556D"/>
                </a:solidFill>
                <a:latin typeface="Aptos"/>
              </a:defRPr>
            </a:pPr>
            <a:r>
              <a:t>• The assistant may keep reasoning about an obsolete request.</a:t>
            </a:r>
          </a:p>
          <a:p>
            <a:pPr>
              <a:spcAft>
                <a:spcPts val="1000"/>
              </a:spcAft>
              <a:defRPr sz="1500">
                <a:solidFill>
                  <a:srgbClr val="5C556D"/>
                </a:solidFill>
                <a:latin typeface="Aptos"/>
              </a:defRPr>
            </a:pPr>
            <a:r>
              <a:t>• In-flight tool calls can finish after the user has changed their mind.</a:t>
            </a:r>
          </a:p>
          <a:p>
            <a:pPr>
              <a:spcAft>
                <a:spcPts val="1000"/>
              </a:spcAft>
              <a:defRPr sz="1500">
                <a:solidFill>
                  <a:srgbClr val="5C556D"/>
                </a:solidFill>
                <a:latin typeface="Aptos"/>
              </a:defRPr>
            </a:pPr>
            <a:r>
              <a:t>• State can become inconsistent if stale results overwrite newer intent.</a:t>
            </a:r>
          </a:p>
          <a:p>
            <a:pPr>
              <a:spcAft>
                <a:spcPts val="1000"/>
              </a:spcAft>
              <a:defRPr sz="1500">
                <a:solidFill>
                  <a:srgbClr val="5C556D"/>
                </a:solidFill>
                <a:latin typeface="Aptos"/>
              </a:defRPr>
            </a:pPr>
            <a:r>
              <a:t>• Duplicate state-changing actions are unsafe.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1627632"/>
            <a:ext cx="539496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0" y="1874519"/>
            <a:ext cx="1920240" cy="329184"/>
          </a:xfrm>
          <a:prstGeom prst="roundRect">
            <a:avLst/>
          </a:prstGeom>
          <a:solidFill>
            <a:srgbClr val="EEE8FF"/>
          </a:solidFill>
          <a:ln w="12700">
            <a:solidFill>
              <a:srgbClr val="EE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1901951"/>
            <a:ext cx="181051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000" b="1">
                <a:solidFill>
                  <a:srgbClr val="6D28D9"/>
                </a:solidFill>
                <a:latin typeface="Aptos"/>
              </a:rPr>
              <a:t>WHAT THEME 05 ASKS FOR</a:t>
            </a:r>
          </a:p>
        </p:txBody>
      </p:sp>
      <p:sp>
        <p:nvSpPr>
          <p:cNvPr id="15" name="Oval 14"/>
          <p:cNvSpPr/>
          <p:nvPr/>
        </p:nvSpPr>
        <p:spPr>
          <a:xfrm>
            <a:off x="6419088" y="2423160"/>
            <a:ext cx="438912" cy="438912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2450591"/>
            <a:ext cx="438912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22592" y="2414016"/>
            <a:ext cx="20116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450" b="1">
                <a:solidFill>
                  <a:srgbClr val="171126"/>
                </a:solidFill>
                <a:latin typeface="Aptos"/>
              </a:rPr>
              <a:t>Stay responsive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22592" y="2734056"/>
            <a:ext cx="38862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50" b="0">
                <a:solidFill>
                  <a:srgbClr val="5C556D"/>
                </a:solidFill>
                <a:latin typeface="Aptos"/>
              </a:rPr>
              <a:t>Meaningful feedback within a few hundred milliseconds.</a:t>
            </a:r>
          </a:p>
        </p:txBody>
      </p:sp>
      <p:sp>
        <p:nvSpPr>
          <p:cNvPr id="19" name="Oval 18"/>
          <p:cNvSpPr/>
          <p:nvPr/>
        </p:nvSpPr>
        <p:spPr>
          <a:xfrm>
            <a:off x="6419088" y="3410712"/>
            <a:ext cx="438912" cy="438912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3438144"/>
            <a:ext cx="438912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22592" y="3401568"/>
            <a:ext cx="20116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450" b="1">
                <a:solidFill>
                  <a:srgbClr val="171126"/>
                </a:solidFill>
                <a:latin typeface="Aptos"/>
              </a:rPr>
              <a:t>Work asynchronously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3721608"/>
            <a:ext cx="38862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50" b="0">
                <a:solidFill>
                  <a:srgbClr val="5C556D"/>
                </a:solidFill>
                <a:latin typeface="Aptos"/>
              </a:rPr>
              <a:t>Reasoning, perception and tools run without blocking the conversation.</a:t>
            </a:r>
          </a:p>
        </p:txBody>
      </p:sp>
      <p:sp>
        <p:nvSpPr>
          <p:cNvPr id="23" name="Oval 22"/>
          <p:cNvSpPr/>
          <p:nvPr/>
        </p:nvSpPr>
        <p:spPr>
          <a:xfrm>
            <a:off x="6419088" y="4398264"/>
            <a:ext cx="438912" cy="438912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4425696"/>
            <a:ext cx="438912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22592" y="4389120"/>
            <a:ext cx="20116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450" b="1">
                <a:solidFill>
                  <a:srgbClr val="171126"/>
                </a:solidFill>
                <a:latin typeface="Aptos"/>
              </a:rPr>
              <a:t>Recover cleanly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22592" y="4709160"/>
            <a:ext cx="38862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50" b="0">
                <a:solidFill>
                  <a:srgbClr val="5C556D"/>
                </a:solidFill>
                <a:latin typeface="Aptos"/>
              </a:rPr>
              <a:t>Cancel stale work, update slots and avoid repeated state changes.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547104"/>
            <a:ext cx="71323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750" b="1">
                <a:solidFill>
                  <a:srgbClr val="5C556D"/>
                </a:solidFill>
                <a:latin typeface="Aptos"/>
              </a:rPr>
              <a:t>SAMSUNG PRISM • GENERATIVE AI HACKATHON • THEME 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519672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800" b="0">
                <a:solidFill>
                  <a:srgbClr val="5C556D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99669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700" b="1">
                <a:solidFill>
                  <a:srgbClr val="6D28D9"/>
                </a:solidFill>
                <a:latin typeface="Aptos"/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14400"/>
            <a:ext cx="10607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50" b="0">
                <a:solidFill>
                  <a:srgbClr val="5C556D"/>
                </a:solidFill>
                <a:latin typeface="Aptos"/>
              </a:rPr>
              <a:t>Ascendants separates responsiveness, reasoning and state coordination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93192"/>
            <a:ext cx="411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1100" b="1">
                <a:solidFill>
                  <a:srgbClr val="6D28D9"/>
                </a:solidFill>
                <a:latin typeface="Aptos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07592"/>
            <a:ext cx="10881360" cy="16459"/>
          </a:xfrm>
          <a:prstGeom prst="rect">
            <a:avLst/>
          </a:prstGeom>
          <a:solidFill>
            <a:srgbClr val="E0D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27632"/>
            <a:ext cx="5257800" cy="4434840"/>
          </a:xfrm>
          <a:prstGeom prst="roundRect">
            <a:avLst/>
          </a:prstGeom>
          <a:solidFill>
            <a:srgbClr val="F8F7FC"/>
          </a:solidFill>
          <a:ln w="12700">
            <a:solidFill>
              <a:srgbClr val="E0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874519"/>
            <a:ext cx="1554480" cy="329184"/>
          </a:xfrm>
          <a:prstGeom prst="roundRect">
            <a:avLst/>
          </a:prstGeom>
          <a:solidFill>
            <a:srgbClr val="FFEFF3"/>
          </a:solidFill>
          <a:ln w="12700">
            <a:solidFill>
              <a:srgbClr val="FF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1901951"/>
            <a:ext cx="144475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000" b="1">
                <a:solidFill>
                  <a:srgbClr val="DC2650"/>
                </a:solidFill>
                <a:latin typeface="Aptos"/>
              </a:rPr>
              <a:t>CONVENTIONAL 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" y="2468880"/>
            <a:ext cx="14173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6" y="2587752"/>
            <a:ext cx="119786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050" b="1">
                <a:solidFill>
                  <a:srgbClr val="171126"/>
                </a:solidFill>
                <a:latin typeface="Aptos"/>
              </a:rPr>
              <a:t>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42032" y="2615184"/>
            <a:ext cx="26060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50" b="1">
                <a:solidFill>
                  <a:srgbClr val="171126"/>
                </a:solidFill>
                <a:latin typeface="Aptos"/>
              </a:rPr>
              <a:t>Book Delhi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359152" y="2788920"/>
            <a:ext cx="155448" cy="0"/>
          </a:xfrm>
          <a:prstGeom prst="line">
            <a:avLst/>
          </a:prstGeom>
          <a:ln w="19050">
            <a:solidFill>
              <a:srgbClr val="DC2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32688" y="3310128"/>
            <a:ext cx="14173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" y="3429000"/>
            <a:ext cx="119786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050" b="1">
                <a:solidFill>
                  <a:srgbClr val="171126"/>
                </a:solidFill>
                <a:latin typeface="Aptos"/>
              </a:rPr>
              <a:t>LLM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2032" y="3456432"/>
            <a:ext cx="26060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50" b="1">
                <a:solidFill>
                  <a:srgbClr val="171126"/>
                </a:solidFill>
                <a:latin typeface="Aptos"/>
              </a:rPr>
              <a:t>Think / wait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359152" y="3630168"/>
            <a:ext cx="155448" cy="0"/>
          </a:xfrm>
          <a:prstGeom prst="line">
            <a:avLst/>
          </a:prstGeom>
          <a:ln w="19050">
            <a:solidFill>
              <a:srgbClr val="DC2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32688" y="4151376"/>
            <a:ext cx="14173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6" y="4270248"/>
            <a:ext cx="119786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050" b="1">
                <a:solidFill>
                  <a:srgbClr val="171126"/>
                </a:solidFill>
                <a:latin typeface="Aptos"/>
              </a:rPr>
              <a:t>TOOL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42032" y="4297680"/>
            <a:ext cx="26060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50" b="1">
                <a:solidFill>
                  <a:srgbClr val="171126"/>
                </a:solidFill>
                <a:latin typeface="Aptos"/>
              </a:rPr>
              <a:t>Booking runs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359152" y="4471416"/>
            <a:ext cx="155448" cy="0"/>
          </a:xfrm>
          <a:prstGeom prst="line">
            <a:avLst/>
          </a:prstGeom>
          <a:ln w="19050">
            <a:solidFill>
              <a:srgbClr val="DC2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32688" y="4992624"/>
            <a:ext cx="14173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2416" y="5111496"/>
            <a:ext cx="119786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050" b="1">
                <a:solidFill>
                  <a:srgbClr val="171126"/>
                </a:solidFill>
                <a:latin typeface="Aptos"/>
              </a:rPr>
              <a:t>INTERRUPTION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42032" y="5138928"/>
            <a:ext cx="26060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50" b="1">
                <a:solidFill>
                  <a:srgbClr val="171126"/>
                </a:solidFill>
                <a:latin typeface="Aptos"/>
              </a:rPr>
              <a:t>Actually Mumbai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5532120"/>
            <a:ext cx="448056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50" b="1">
                <a:solidFill>
                  <a:srgbClr val="DC2650"/>
                </a:solidFill>
                <a:latin typeface="Aptos"/>
              </a:rPr>
              <a:t>Risk: old work may finish after the interruption.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1627632"/>
            <a:ext cx="5413248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82512" y="1874519"/>
            <a:ext cx="1143000" cy="329184"/>
          </a:xfrm>
          <a:prstGeom prst="roundRect">
            <a:avLst/>
          </a:prstGeom>
          <a:solidFill>
            <a:srgbClr val="EEE8FF"/>
          </a:solidFill>
          <a:ln w="12700">
            <a:solidFill>
              <a:srgbClr val="EE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37376" y="1901951"/>
            <a:ext cx="1033271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000" b="1">
                <a:solidFill>
                  <a:srgbClr val="6D28D9"/>
                </a:solidFill>
                <a:latin typeface="Aptos"/>
              </a:rPr>
              <a:t>ASCENDANTS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46520" y="2423160"/>
            <a:ext cx="1417320" cy="786384"/>
          </a:xfrm>
          <a:prstGeom prst="roundRect">
            <a:avLst/>
          </a:prstGeom>
          <a:solidFill>
            <a:srgbClr val="E4F8F5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56248" y="2542032"/>
            <a:ext cx="119786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200" b="1">
                <a:solidFill>
                  <a:srgbClr val="171126"/>
                </a:solidFill>
                <a:latin typeface="Aptos"/>
              </a:rPr>
              <a:t>FAST PATH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56248" y="2898648"/>
            <a:ext cx="1197864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50" b="0">
                <a:solidFill>
                  <a:srgbClr val="5C556D"/>
                </a:solidFill>
                <a:latin typeface="Aptos"/>
              </a:rPr>
              <a:t>instant acknowledgement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75320" y="2423160"/>
            <a:ext cx="1417320" cy="786384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85048" y="2542032"/>
            <a:ext cx="119786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200" b="1">
                <a:solidFill>
                  <a:srgbClr val="171126"/>
                </a:solidFill>
                <a:latin typeface="Aptos"/>
              </a:rPr>
              <a:t>SLOW PATH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5048" y="2898648"/>
            <a:ext cx="1197864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50" b="0">
                <a:solidFill>
                  <a:srgbClr val="5C556D"/>
                </a:solidFill>
                <a:latin typeface="Aptos"/>
              </a:rPr>
              <a:t>async reasoning + tools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104120" y="2423160"/>
            <a:ext cx="1051560" cy="786384"/>
          </a:xfrm>
          <a:prstGeom prst="roundRect">
            <a:avLst/>
          </a:prstGeom>
          <a:solidFill>
            <a:srgbClr val="EEE8FF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13848" y="2542032"/>
            <a:ext cx="832103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100" b="1">
                <a:solidFill>
                  <a:srgbClr val="171126"/>
                </a:solidFill>
                <a:latin typeface="Aptos"/>
              </a:rPr>
              <a:t>STATE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13848" y="2898648"/>
            <a:ext cx="832103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50" b="0">
                <a:solidFill>
                  <a:srgbClr val="5C556D"/>
                </a:solidFill>
                <a:latin typeface="Aptos"/>
              </a:rPr>
              <a:t>session slots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882127" y="2816352"/>
            <a:ext cx="347473" cy="0"/>
          </a:xfrm>
          <a:prstGeom prst="line">
            <a:avLst/>
          </a:prstGeom>
          <a:ln w="254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710928" y="2816352"/>
            <a:ext cx="347472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6446520" y="3749039"/>
            <a:ext cx="192024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56248" y="3867911"/>
            <a:ext cx="170078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200" b="1">
                <a:solidFill>
                  <a:srgbClr val="171126"/>
                </a:solidFill>
                <a:latin typeface="Aptos"/>
              </a:rPr>
              <a:t>INTERRUPT HANDLER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56248" y="4224527"/>
            <a:ext cx="170078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50" b="0">
                <a:solidFill>
                  <a:srgbClr val="5C556D"/>
                </a:solidFill>
                <a:latin typeface="Aptos"/>
              </a:rPr>
              <a:t>cancels obsolete tasks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732520" y="3749039"/>
            <a:ext cx="155448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42248" y="3867911"/>
            <a:ext cx="133502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200" b="1">
                <a:solidFill>
                  <a:srgbClr val="171126"/>
                </a:solidFill>
                <a:latin typeface="Aptos"/>
              </a:rPr>
              <a:t>TOOL ENGINE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42248" y="4224527"/>
            <a:ext cx="133502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50" b="0">
                <a:solidFill>
                  <a:srgbClr val="5C556D"/>
                </a:solidFill>
                <a:latin typeface="Aptos"/>
              </a:rPr>
              <a:t>dedupe + schemas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561320" y="3749039"/>
            <a:ext cx="84124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671048" y="3867911"/>
            <a:ext cx="62179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100" b="1">
                <a:solidFill>
                  <a:srgbClr val="171126"/>
                </a:solidFill>
                <a:latin typeface="Aptos"/>
              </a:rPr>
              <a:t>TRACE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71048" y="4224527"/>
            <a:ext cx="62179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50" b="0">
                <a:solidFill>
                  <a:srgbClr val="5C556D"/>
                </a:solidFill>
                <a:latin typeface="Aptos"/>
              </a:rPr>
              <a:t>audit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406640" y="3218688"/>
            <a:ext cx="0" cy="484632"/>
          </a:xfrm>
          <a:prstGeom prst="line">
            <a:avLst/>
          </a:prstGeom>
          <a:ln w="1905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8988552" y="3218688"/>
            <a:ext cx="429768" cy="484632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625328" y="3218688"/>
            <a:ext cx="347472" cy="484632"/>
          </a:xfrm>
          <a:prstGeom prst="line">
            <a:avLst/>
          </a:prstGeom>
          <a:ln w="1905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446520" y="5010912"/>
            <a:ext cx="452628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00" b="1">
                <a:solidFill>
                  <a:srgbClr val="171126"/>
                </a:solidFill>
                <a:latin typeface="Aptos"/>
              </a:rPr>
              <a:t>Key design choice: cancellation is structural — a late result stays cancelled and cannot overwrite current state.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" y="6547104"/>
            <a:ext cx="71323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750" b="1">
                <a:solidFill>
                  <a:srgbClr val="5C556D"/>
                </a:solidFill>
                <a:latin typeface="Aptos"/>
              </a:rPr>
              <a:t>SAMSUNG PRISM • GENERATIVE AI HACKATHON • THEME 05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064240" y="6519672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800" b="0">
                <a:solidFill>
                  <a:srgbClr val="5C556D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99669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700" b="1">
                <a:solidFill>
                  <a:srgbClr val="6D28D9"/>
                </a:solidFill>
                <a:latin typeface="Aptos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14400"/>
            <a:ext cx="10607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50" b="0">
                <a:solidFill>
                  <a:srgbClr val="5C556D"/>
                </a:solidFill>
                <a:latin typeface="Aptos"/>
              </a:rPr>
              <a:t>End-to-end control flow implemented in the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93192"/>
            <a:ext cx="411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1100" b="1">
                <a:solidFill>
                  <a:srgbClr val="6D28D9"/>
                </a:solidFill>
                <a:latin typeface="Aptos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07592"/>
            <a:ext cx="10881360" cy="16459"/>
          </a:xfrm>
          <a:prstGeom prst="rect">
            <a:avLst/>
          </a:prstGeom>
          <a:solidFill>
            <a:srgbClr val="E0D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1463040" cy="914400"/>
          </a:xfrm>
          <a:prstGeom prst="roundRect">
            <a:avLst/>
          </a:prstGeom>
          <a:solidFill>
            <a:srgbClr val="EEE8FF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2267712"/>
            <a:ext cx="124358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300" b="1">
                <a:solidFill>
                  <a:srgbClr val="171126"/>
                </a:solidFill>
                <a:latin typeface="Aptos"/>
              </a:rPr>
              <a:t>INPUT EVENTS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624328"/>
            <a:ext cx="124358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50" b="0">
                <a:solidFill>
                  <a:srgbClr val="5C556D"/>
                </a:solidFill>
                <a:latin typeface="Aptos"/>
              </a:rPr>
              <a:t>text • audio • image • interruption • manifest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76272" y="2606040"/>
            <a:ext cx="310896" cy="0"/>
          </a:xfrm>
          <a:prstGeom prst="line">
            <a:avLst/>
          </a:prstGeom>
          <a:ln w="2540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514600" y="1965960"/>
            <a:ext cx="16459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24328" y="2084831"/>
            <a:ext cx="142646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300" b="1">
                <a:solidFill>
                  <a:srgbClr val="171126"/>
                </a:solidFill>
                <a:latin typeface="Aptos"/>
              </a:rPr>
              <a:t>EVENT PROCESSOR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24328" y="2441448"/>
            <a:ext cx="1426464" cy="7315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50" b="0">
                <a:solidFill>
                  <a:srgbClr val="5C556D"/>
                </a:solidFill>
                <a:latin typeface="Aptos"/>
              </a:rPr>
              <a:t>normalize + validate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251960" y="2606040"/>
            <a:ext cx="274320" cy="0"/>
          </a:xfrm>
          <a:prstGeom prst="line">
            <a:avLst/>
          </a:prstGeom>
          <a:ln w="2540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572000" y="1572768"/>
            <a:ext cx="1417320" cy="914400"/>
          </a:xfrm>
          <a:prstGeom prst="roundRect">
            <a:avLst/>
          </a:prstGeom>
          <a:solidFill>
            <a:srgbClr val="E4F8F5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81728" y="1691640"/>
            <a:ext cx="119786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300" b="1">
                <a:solidFill>
                  <a:srgbClr val="171126"/>
                </a:solidFill>
                <a:latin typeface="Aptos"/>
              </a:rPr>
              <a:t>FAST PATH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1728" y="2048256"/>
            <a:ext cx="119786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50" b="0">
                <a:solidFill>
                  <a:srgbClr val="5C556D"/>
                </a:solidFill>
                <a:latin typeface="Aptos"/>
              </a:rPr>
              <a:t>instant acknowledgement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2761488"/>
            <a:ext cx="1417320" cy="91440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1728" y="2880360"/>
            <a:ext cx="119786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300" b="1">
                <a:solidFill>
                  <a:srgbClr val="171126"/>
                </a:solidFill>
                <a:latin typeface="Aptos"/>
              </a:rPr>
              <a:t>ORCHESTRATOR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1728" y="3236976"/>
            <a:ext cx="119786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50" b="0">
                <a:solidFill>
                  <a:srgbClr val="5C556D"/>
                </a:solidFill>
                <a:latin typeface="Aptos"/>
              </a:rPr>
              <a:t>coordination layer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285232" y="2505456"/>
            <a:ext cx="0" cy="237744"/>
          </a:xfrm>
          <a:prstGeom prst="line">
            <a:avLst/>
          </a:prstGeom>
          <a:ln w="2286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035040" y="3218688"/>
            <a:ext cx="292608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355080" y="2761488"/>
            <a:ext cx="16002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4808" y="2880360"/>
            <a:ext cx="138074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300" b="1">
                <a:solidFill>
                  <a:srgbClr val="171126"/>
                </a:solidFill>
                <a:latin typeface="Aptos"/>
              </a:rPr>
              <a:t>ASYNC REASONER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8" y="3236976"/>
            <a:ext cx="138074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50" b="0">
                <a:solidFill>
                  <a:srgbClr val="5C556D"/>
                </a:solidFill>
                <a:latin typeface="Aptos"/>
              </a:rPr>
              <a:t>LLM loop + cancellable tasks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065008" y="3218688"/>
            <a:ext cx="274319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366760" y="2761488"/>
            <a:ext cx="15087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2880360"/>
            <a:ext cx="128930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300" b="1">
                <a:solidFill>
                  <a:srgbClr val="171126"/>
                </a:solidFill>
                <a:latin typeface="Aptos"/>
              </a:rPr>
              <a:t>TOOL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3236976"/>
            <a:ext cx="128930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50" b="0">
                <a:solidFill>
                  <a:srgbClr val="5C556D"/>
                </a:solidFill>
                <a:latin typeface="Aptos"/>
              </a:rPr>
              <a:t>schemas + duplicate protection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966960" y="3218688"/>
            <a:ext cx="256032" cy="0"/>
          </a:xfrm>
          <a:prstGeom prst="line">
            <a:avLst/>
          </a:prstGeom>
          <a:ln w="2540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0259568" y="2761488"/>
            <a:ext cx="1234440" cy="914400"/>
          </a:xfrm>
          <a:prstGeom prst="roundRect">
            <a:avLst/>
          </a:prstGeom>
          <a:solidFill>
            <a:srgbClr val="EEE8FF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69296" y="2880360"/>
            <a:ext cx="101498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300" b="1">
                <a:solidFill>
                  <a:srgbClr val="171126"/>
                </a:solidFill>
                <a:latin typeface="Aptos"/>
              </a:rPr>
              <a:t>ACTIONS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69296" y="3236976"/>
            <a:ext cx="101498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50" b="0">
                <a:solidFill>
                  <a:srgbClr val="5C556D"/>
                </a:solidFill>
                <a:latin typeface="Aptos"/>
              </a:rPr>
              <a:t>tool • cancel • final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49039" y="4800600"/>
            <a:ext cx="1920240" cy="868680"/>
          </a:xfrm>
          <a:prstGeom prst="roundRect">
            <a:avLst/>
          </a:prstGeom>
          <a:solidFill>
            <a:srgbClr val="E4F8F5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58768" y="4919472"/>
            <a:ext cx="170078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200" b="1">
                <a:solidFill>
                  <a:srgbClr val="171126"/>
                </a:solidFill>
                <a:latin typeface="Aptos"/>
              </a:rPr>
              <a:t>SESSION STATE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58768" y="5276088"/>
            <a:ext cx="170078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50" b="0">
                <a:solidFill>
                  <a:srgbClr val="5C556D"/>
                </a:solidFill>
                <a:latin typeface="Aptos"/>
              </a:rPr>
              <a:t>intent + slots • no global cache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4800600"/>
            <a:ext cx="1508760" cy="86868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10528" y="4919472"/>
            <a:ext cx="128930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200" b="1">
                <a:solidFill>
                  <a:srgbClr val="171126"/>
                </a:solidFill>
                <a:latin typeface="Aptos"/>
              </a:rPr>
              <a:t>TRACE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10528" y="5276088"/>
            <a:ext cx="128930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50" b="0">
                <a:solidFill>
                  <a:srgbClr val="5C556D"/>
                </a:solidFill>
                <a:latin typeface="Aptos"/>
              </a:rPr>
              <a:t>timestamp • call_id • reason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503920" y="4800600"/>
            <a:ext cx="1828800" cy="868680"/>
          </a:xfrm>
          <a:prstGeom prst="roundRect">
            <a:avLst/>
          </a:prstGeom>
          <a:solidFill>
            <a:srgbClr val="EEE8FF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13648" y="4919472"/>
            <a:ext cx="160934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200" b="1">
                <a:solidFill>
                  <a:srgbClr val="171126"/>
                </a:solidFill>
                <a:latin typeface="Aptos"/>
              </a:rPr>
              <a:t>DYNAMIC TOOLS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13648" y="5276088"/>
            <a:ext cx="160934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50" b="0">
                <a:solidFill>
                  <a:srgbClr val="5C556D"/>
                </a:solidFill>
                <a:latin typeface="Aptos"/>
              </a:rPr>
              <a:t>runtime manifests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709160" y="4114800"/>
            <a:ext cx="0" cy="640080"/>
          </a:xfrm>
          <a:prstGeom prst="line">
            <a:avLst/>
          </a:prstGeom>
          <a:ln w="1905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150608" y="3703320"/>
            <a:ext cx="0" cy="105156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144000" y="3703320"/>
            <a:ext cx="0" cy="1051560"/>
          </a:xfrm>
          <a:prstGeom prst="line">
            <a:avLst/>
          </a:prstGeom>
          <a:ln w="1905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49808" y="5806440"/>
            <a:ext cx="106070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150" b="0">
                <a:solidFill>
                  <a:srgbClr val="5C556D"/>
                </a:solidFill>
                <a:latin typeface="Aptos"/>
              </a:rPr>
              <a:t>Multimodal grounding converts valid WAV/PNG events into LLM-usable context; missing metadata triggers clarification instead of guessing.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547104"/>
            <a:ext cx="71323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750" b="1">
                <a:solidFill>
                  <a:srgbClr val="5C556D"/>
                </a:solidFill>
                <a:latin typeface="Aptos"/>
              </a:rPr>
              <a:t>SAMSUNG PRISM • GENERATIVE AI HACKATHON • THEME 05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64240" y="6519672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800" b="0">
                <a:solidFill>
                  <a:srgbClr val="5C556D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99669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700" b="1">
                <a:solidFill>
                  <a:srgbClr val="6D28D9"/>
                </a:solidFill>
                <a:latin typeface="Aptos"/>
              </a:rPr>
              <a:t>Demo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14400"/>
            <a:ext cx="10607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50" b="0">
                <a:solidFill>
                  <a:srgbClr val="5C556D"/>
                </a:solidFill>
                <a:latin typeface="Aptos"/>
              </a:rPr>
              <a:t>The core interruption scenario is reproducible offline and deterministic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93192"/>
            <a:ext cx="411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1100" b="1">
                <a:solidFill>
                  <a:srgbClr val="6D28D9"/>
                </a:solidFill>
                <a:latin typeface="Aptos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07592"/>
            <a:ext cx="10881360" cy="16459"/>
          </a:xfrm>
          <a:prstGeom prst="rect">
            <a:avLst/>
          </a:prstGeom>
          <a:solidFill>
            <a:srgbClr val="E0D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993392"/>
            <a:ext cx="1481328" cy="269748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8720" y="219456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26771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80360"/>
            <a:ext cx="126187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050" b="1">
                <a:solidFill>
                  <a:srgbClr val="2563EB"/>
                </a:solidFill>
                <a:latin typeface="Aptos"/>
              </a:rPr>
              <a:t>USER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3310128"/>
            <a:ext cx="1243584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150" b="1">
                <a:solidFill>
                  <a:srgbClr val="171126"/>
                </a:solidFill>
                <a:latin typeface="Aptos"/>
              </a:rPr>
              <a:t>“Book me a flight to Delhi.”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194560" y="3346704"/>
            <a:ext cx="128016" cy="0"/>
          </a:xfrm>
          <a:prstGeom prst="line">
            <a:avLst/>
          </a:prstGeom>
          <a:ln w="19050">
            <a:solidFill>
              <a:srgbClr val="E0DD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350008" y="1993392"/>
            <a:ext cx="1481328" cy="2697480"/>
          </a:xfrm>
          <a:prstGeom prst="roundRect">
            <a:avLst/>
          </a:prstGeom>
          <a:solidFill>
            <a:srgbClr val="E4F8F5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825496" y="2194560"/>
            <a:ext cx="502920" cy="5029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25496" y="226771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59736" y="2880360"/>
            <a:ext cx="126187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050" b="1">
                <a:solidFill>
                  <a:srgbClr val="0D9488"/>
                </a:solidFill>
                <a:latin typeface="Aptos"/>
              </a:rPr>
              <a:t>FAST PATH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3310128"/>
            <a:ext cx="1243584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150" b="1">
                <a:solidFill>
                  <a:srgbClr val="171126"/>
                </a:solidFill>
                <a:latin typeface="Aptos"/>
              </a:rPr>
              <a:t>Instant acknowledgement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831336" y="3346704"/>
            <a:ext cx="128016" cy="0"/>
          </a:xfrm>
          <a:prstGeom prst="line">
            <a:avLst/>
          </a:prstGeom>
          <a:ln w="19050">
            <a:solidFill>
              <a:srgbClr val="E0DD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986784" y="1993392"/>
            <a:ext cx="1481328" cy="2697480"/>
          </a:xfrm>
          <a:prstGeom prst="roundRect">
            <a:avLst/>
          </a:prstGeom>
          <a:solidFill>
            <a:srgbClr val="FFEFF3"/>
          </a:solidFill>
          <a:ln w="12700">
            <a:solidFill>
              <a:srgbClr val="DC2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462272" y="2194560"/>
            <a:ext cx="502920" cy="502920"/>
          </a:xfrm>
          <a:prstGeom prst="ellipse">
            <a:avLst/>
          </a:prstGeom>
          <a:solidFill>
            <a:srgbClr val="DC2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62272" y="226771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96512" y="2880360"/>
            <a:ext cx="126187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050" b="1">
                <a:solidFill>
                  <a:srgbClr val="DC2650"/>
                </a:solidFill>
                <a:latin typeface="Aptos"/>
              </a:rPr>
              <a:t>INTERRUPT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05656" y="3310128"/>
            <a:ext cx="1243584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150" b="1">
                <a:solidFill>
                  <a:srgbClr val="171126"/>
                </a:solidFill>
                <a:latin typeface="Aptos"/>
              </a:rPr>
              <a:t>“Actually Mumbai.”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68112" y="3346704"/>
            <a:ext cx="128016" cy="0"/>
          </a:xfrm>
          <a:prstGeom prst="line">
            <a:avLst/>
          </a:prstGeom>
          <a:ln w="19050">
            <a:solidFill>
              <a:srgbClr val="E0DD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623560" y="1993392"/>
            <a:ext cx="1481328" cy="2697480"/>
          </a:xfrm>
          <a:prstGeom prst="roundRect">
            <a:avLst/>
          </a:prstGeom>
          <a:solidFill>
            <a:srgbClr val="EEE8FF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099048" y="2194560"/>
            <a:ext cx="502920" cy="50292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99048" y="226771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33288" y="2880360"/>
            <a:ext cx="126187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050" b="1">
                <a:solidFill>
                  <a:srgbClr val="6D28D9"/>
                </a:solidFill>
                <a:latin typeface="Aptos"/>
              </a:rPr>
              <a:t>COORDINATE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42432" y="3310128"/>
            <a:ext cx="1243584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150" b="1">
                <a:solidFill>
                  <a:srgbClr val="171126"/>
                </a:solidFill>
                <a:latin typeface="Aptos"/>
              </a:rPr>
              <a:t>Cancel Delhi → update destination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104888" y="3346704"/>
            <a:ext cx="128016" cy="0"/>
          </a:xfrm>
          <a:prstGeom prst="line">
            <a:avLst/>
          </a:prstGeom>
          <a:ln w="19050">
            <a:solidFill>
              <a:srgbClr val="E0DD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260336" y="1993392"/>
            <a:ext cx="1481328" cy="269748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735824" y="219456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35824" y="226771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70064" y="2880360"/>
            <a:ext cx="126187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050" b="1">
                <a:solidFill>
                  <a:srgbClr val="2563EB"/>
                </a:solidFill>
                <a:latin typeface="Aptos"/>
              </a:rPr>
              <a:t>NEW TASK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79208" y="3310128"/>
            <a:ext cx="1243584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150" b="1">
                <a:solidFill>
                  <a:srgbClr val="171126"/>
                </a:solidFill>
                <a:latin typeface="Aptos"/>
              </a:rPr>
              <a:t>Start Mumbai search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741664" y="3346704"/>
            <a:ext cx="128016" cy="0"/>
          </a:xfrm>
          <a:prstGeom prst="line">
            <a:avLst/>
          </a:prstGeom>
          <a:ln w="19050">
            <a:solidFill>
              <a:srgbClr val="E0DD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8897112" y="1993392"/>
            <a:ext cx="1481328" cy="2697480"/>
          </a:xfrm>
          <a:prstGeom prst="roundRect">
            <a:avLst/>
          </a:prstGeom>
          <a:solidFill>
            <a:srgbClr val="FFEFF3"/>
          </a:solidFill>
          <a:ln w="12700">
            <a:solidFill>
              <a:srgbClr val="DC2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372600" y="2194560"/>
            <a:ext cx="502920" cy="502920"/>
          </a:xfrm>
          <a:prstGeom prst="ellipse">
            <a:avLst/>
          </a:prstGeom>
          <a:solidFill>
            <a:srgbClr val="DC2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72600" y="226771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06840" y="2880360"/>
            <a:ext cx="126187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050" b="1">
                <a:solidFill>
                  <a:srgbClr val="DC2650"/>
                </a:solidFill>
                <a:latin typeface="Aptos"/>
              </a:rPr>
              <a:t>STALE RESULT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15984" y="3310128"/>
            <a:ext cx="1243584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150" b="1">
                <a:solidFill>
                  <a:srgbClr val="171126"/>
                </a:solidFill>
                <a:latin typeface="Aptos"/>
              </a:rPr>
              <a:t>Delhi result arrives late → ignored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0378440" y="3346704"/>
            <a:ext cx="128016" cy="0"/>
          </a:xfrm>
          <a:prstGeom prst="line">
            <a:avLst/>
          </a:prstGeom>
          <a:ln w="19050">
            <a:solidFill>
              <a:srgbClr val="E0DD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10533888" y="1993392"/>
            <a:ext cx="1600200" cy="2697480"/>
          </a:xfrm>
          <a:prstGeom prst="roundRect">
            <a:avLst/>
          </a:prstGeom>
          <a:solidFill>
            <a:srgbClr val="E4F8F5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1009376" y="2194560"/>
            <a:ext cx="502920" cy="5029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009376" y="226771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43615" y="2880360"/>
            <a:ext cx="138074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050" b="1">
                <a:solidFill>
                  <a:srgbClr val="0D9488"/>
                </a:solidFill>
                <a:latin typeface="Aptos"/>
              </a:rPr>
              <a:t>FINAL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52760" y="3310128"/>
            <a:ext cx="1362456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150" b="1">
                <a:solidFill>
                  <a:srgbClr val="171126"/>
                </a:solidFill>
                <a:latin typeface="Aptos"/>
              </a:rPr>
              <a:t>Mumbai result is used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1520" y="5074920"/>
            <a:ext cx="107442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0120" y="5276088"/>
            <a:ext cx="10241280" cy="31089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350" b="1">
                <a:solidFill>
                  <a:srgbClr val="6D28D9"/>
                </a:solidFill>
                <a:latin typeface="Aptos"/>
              </a:rPr>
              <a:t>Verified run: </a:t>
            </a:r>
            <a:r>
              <a:rPr sz="1350" b="0">
                <a:solidFill>
                  <a:srgbClr val="171126"/>
                </a:solidFill>
                <a:latin typeface="Aptos"/>
              </a:rPr>
              <a:t>the demo completed with the cancelled Delhi call remaining </a:t>
            </a:r>
            <a:r>
              <a:rPr sz="1350" b="1">
                <a:solidFill>
                  <a:srgbClr val="DC2650"/>
                </a:solidFill>
                <a:latin typeface="Aptos"/>
              </a:rPr>
              <a:t>cancelled</a:t>
            </a:r>
            <a:r>
              <a:rPr sz="1350" b="0">
                <a:solidFill>
                  <a:srgbClr val="171126"/>
                </a:solidFill>
                <a:latin typeface="Aptos"/>
              </a:rPr>
              <a:t> while the Mumbai call completed and was used.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" y="5669280"/>
            <a:ext cx="99669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0">
                <a:solidFill>
                  <a:srgbClr val="5C556D"/>
                </a:solidFill>
                <a:latin typeface="Aptos"/>
              </a:rPr>
              <a:t>The repository also includes deterministic fault injection, trace recording and scenario/race-condition tests.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" y="6547104"/>
            <a:ext cx="71323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750" b="1">
                <a:solidFill>
                  <a:srgbClr val="5C556D"/>
                </a:solidFill>
                <a:latin typeface="Aptos"/>
              </a:rPr>
              <a:t>SAMSUNG PRISM • GENERATIVE AI HACKATHON • THEME 05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64240" y="6519672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800" b="0">
                <a:solidFill>
                  <a:srgbClr val="5C556D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99669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700" b="1">
                <a:solidFill>
                  <a:srgbClr val="6D28D9"/>
                </a:solidFill>
                <a:latin typeface="Aptos"/>
              </a:rPr>
              <a:t>Tools, Tech Stack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14400"/>
            <a:ext cx="10607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50" b="0">
                <a:solidFill>
                  <a:srgbClr val="5C556D"/>
                </a:solidFill>
                <a:latin typeface="Aptos"/>
              </a:rPr>
              <a:t>Only technologies and implementation elements present in the submitted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93192"/>
            <a:ext cx="411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1100" b="1">
                <a:solidFill>
                  <a:srgbClr val="6D28D9"/>
                </a:solidFill>
                <a:latin typeface="Aptos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07592"/>
            <a:ext cx="10881360" cy="16459"/>
          </a:xfrm>
          <a:prstGeom prst="rect">
            <a:avLst/>
          </a:prstGeom>
          <a:solidFill>
            <a:srgbClr val="E0D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828800"/>
            <a:ext cx="2907792" cy="1207008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993392"/>
            <a:ext cx="261518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ptos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377440"/>
            <a:ext cx="2615184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0">
                <a:solidFill>
                  <a:srgbClr val="5C556D"/>
                </a:solidFill>
                <a:latin typeface="Aptos"/>
              </a:rPr>
              <a:t>Core runtime / async orchestration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05072" y="1828800"/>
            <a:ext cx="2907792" cy="1207008"/>
          </a:xfrm>
          <a:prstGeom prst="roundRect">
            <a:avLst/>
          </a:prstGeom>
          <a:solidFill>
            <a:srgbClr val="E4F8F5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51376" y="1993392"/>
            <a:ext cx="261518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500" b="1">
                <a:solidFill>
                  <a:srgbClr val="0D9488"/>
                </a:solidFill>
                <a:latin typeface="Aptos"/>
              </a:rPr>
              <a:t>asyncio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51376" y="2377440"/>
            <a:ext cx="2615184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0">
                <a:solidFill>
                  <a:srgbClr val="5C556D"/>
                </a:solidFill>
                <a:latin typeface="Aptos"/>
              </a:rPr>
              <a:t>Fast/slow paths + cancellable tasks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96912" y="1828800"/>
            <a:ext cx="2907792" cy="1207008"/>
          </a:xfrm>
          <a:prstGeom prst="roundRect">
            <a:avLst/>
          </a:prstGeom>
          <a:solidFill>
            <a:srgbClr val="EEE8FF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43216" y="1993392"/>
            <a:ext cx="261518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500" b="1">
                <a:solidFill>
                  <a:srgbClr val="6D28D9"/>
                </a:solidFill>
                <a:latin typeface="Aptos"/>
              </a:rPr>
              <a:t>Ollama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43216" y="2377440"/>
            <a:ext cx="2615184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0">
                <a:solidFill>
                  <a:srgbClr val="5C556D"/>
                </a:solidFill>
                <a:latin typeface="Aptos"/>
              </a:rPr>
              <a:t>Optional real-model path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429000"/>
            <a:ext cx="2907792" cy="1207008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3593592"/>
            <a:ext cx="261518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ptos"/>
              </a:rPr>
              <a:t>qwen2.5:14b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3977639"/>
            <a:ext cx="2615184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0">
                <a:solidFill>
                  <a:srgbClr val="5C556D"/>
                </a:solidFill>
                <a:latin typeface="Aptos"/>
              </a:rPr>
              <a:t>Configured default local model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05072" y="3429000"/>
            <a:ext cx="2907792" cy="1207008"/>
          </a:xfrm>
          <a:prstGeom prst="roundRect">
            <a:avLst/>
          </a:prstGeom>
          <a:solidFill>
            <a:srgbClr val="E4F8F5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51376" y="3593592"/>
            <a:ext cx="261518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500" b="1">
                <a:solidFill>
                  <a:srgbClr val="0D9488"/>
                </a:solidFill>
                <a:latin typeface="Aptos"/>
              </a:rPr>
              <a:t>Pydantic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3977639"/>
            <a:ext cx="2615184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0">
                <a:solidFill>
                  <a:srgbClr val="5C556D"/>
                </a:solidFill>
                <a:latin typeface="Aptos"/>
              </a:rPr>
              <a:t>Schema/data validation dependency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96912" y="3429000"/>
            <a:ext cx="2907792" cy="1207008"/>
          </a:xfrm>
          <a:prstGeom prst="roundRect">
            <a:avLst/>
          </a:prstGeom>
          <a:solidFill>
            <a:srgbClr val="EEE8FF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3216" y="3593592"/>
            <a:ext cx="2615184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500" b="1">
                <a:solidFill>
                  <a:srgbClr val="6D28D9"/>
                </a:solidFill>
                <a:latin typeface="Aptos"/>
              </a:rPr>
              <a:t>unittest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3216" y="3977639"/>
            <a:ext cx="2615184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0">
                <a:solidFill>
                  <a:srgbClr val="5C556D"/>
                </a:solidFill>
                <a:latin typeface="Aptos"/>
              </a:rPr>
              <a:t>Offline deterministic test suite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5074920"/>
            <a:ext cx="949147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5285232"/>
            <a:ext cx="9006840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350" b="1">
                <a:solidFill>
                  <a:srgbClr val="6D28D9"/>
                </a:solidFill>
                <a:latin typeface="Aptos"/>
              </a:rPr>
              <a:t>Local validation: </a:t>
            </a:r>
            <a:r>
              <a:rPr sz="1350" b="1">
                <a:solidFill>
                  <a:srgbClr val="171126"/>
                </a:solidFill>
                <a:latin typeface="Aptos"/>
              </a:rPr>
              <a:t>266 / 266 automated tests passed</a:t>
            </a:r>
            <a:r>
              <a:rPr sz="1350" b="0">
                <a:solidFill>
                  <a:srgbClr val="5C556D"/>
                </a:solidFill>
                <a:latin typeface="Aptos"/>
              </a:rPr>
              <a:t> in a clean extracted copy of the submitted project.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469880" y="5257800"/>
            <a:ext cx="868680" cy="329184"/>
          </a:xfrm>
          <a:prstGeom prst="roundRect">
            <a:avLst/>
          </a:prstGeom>
          <a:solidFill>
            <a:srgbClr val="E4F8F5"/>
          </a:solidFill>
          <a:ln w="12700">
            <a:solidFill>
              <a:srgbClr val="E4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24744" y="5285232"/>
            <a:ext cx="75895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100" b="1">
                <a:solidFill>
                  <a:srgbClr val="0D9488"/>
                </a:solidFill>
                <a:latin typeface="Aptos"/>
              </a:rPr>
              <a:t>PASS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108192"/>
            <a:ext cx="10515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50" b="0">
                <a:solidFill>
                  <a:srgbClr val="5C556D"/>
                </a:solidFill>
                <a:latin typeface="Aptos"/>
              </a:rPr>
              <a:t>Note: this is repository test validation, not an official FDB-v3 benchmark score.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547104"/>
            <a:ext cx="71323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750" b="1">
                <a:solidFill>
                  <a:srgbClr val="5C556D"/>
                </a:solidFill>
                <a:latin typeface="Aptos"/>
              </a:rPr>
              <a:t>SAMSUNG PRISM • GENERATIVE AI HACKATHON • THEME 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519672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800" b="0">
                <a:solidFill>
                  <a:srgbClr val="5C556D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99669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700" b="1">
                <a:solidFill>
                  <a:srgbClr val="6D28D9"/>
                </a:solidFill>
                <a:latin typeface="Aptos"/>
              </a:rPr>
              <a:t>Impact &amp; Differentiation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14400"/>
            <a:ext cx="10607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50" b="0">
                <a:solidFill>
                  <a:srgbClr val="5C556D"/>
                </a:solidFill>
                <a:latin typeface="Aptos"/>
              </a:rPr>
              <a:t>What the implementation enables beyond a basic chatbot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93192"/>
            <a:ext cx="411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1100" b="1">
                <a:solidFill>
                  <a:srgbClr val="6D28D9"/>
                </a:solidFill>
                <a:latin typeface="Aptos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07592"/>
            <a:ext cx="10881360" cy="16459"/>
          </a:xfrm>
          <a:prstGeom prst="rect">
            <a:avLst/>
          </a:prstGeom>
          <a:solidFill>
            <a:srgbClr val="E0D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83080"/>
            <a:ext cx="2907792" cy="1417320"/>
          </a:xfrm>
          <a:prstGeom prst="roundRect">
            <a:avLst/>
          </a:prstGeom>
          <a:solidFill>
            <a:srgbClr val="EEE8FF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929384"/>
            <a:ext cx="263347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50" b="1">
                <a:solidFill>
                  <a:srgbClr val="6D28D9"/>
                </a:solidFill>
                <a:latin typeface="Aptos"/>
              </a:rPr>
              <a:t>INTERRUPTION RECOVERY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31720"/>
            <a:ext cx="2633472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19" b="0">
                <a:solidFill>
                  <a:srgbClr val="171126"/>
                </a:solidFill>
                <a:latin typeface="Aptos"/>
              </a:rPr>
              <a:t>Cancels obsolete work and prevents late results from overwriting current intent.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05072" y="1783080"/>
            <a:ext cx="2907792" cy="141732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42232" y="1929384"/>
            <a:ext cx="263347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50" b="1">
                <a:solidFill>
                  <a:srgbClr val="2563EB"/>
                </a:solidFill>
                <a:latin typeface="Aptos"/>
              </a:rPr>
              <a:t>SESSION SLOT TRACKING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42232" y="2331720"/>
            <a:ext cx="2633472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19" b="0">
                <a:solidFill>
                  <a:srgbClr val="171126"/>
                </a:solidFill>
                <a:latin typeface="Aptos"/>
              </a:rPr>
              <a:t>Corrections update only the affected slot; other session context survives.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96912" y="1783080"/>
            <a:ext cx="2907792" cy="1417320"/>
          </a:xfrm>
          <a:prstGeom prst="roundRect">
            <a:avLst/>
          </a:prstGeom>
          <a:solidFill>
            <a:srgbClr val="E4F8F5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34072" y="1929384"/>
            <a:ext cx="263347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50" b="1">
                <a:solidFill>
                  <a:srgbClr val="0D9488"/>
                </a:solidFill>
                <a:latin typeface="Aptos"/>
              </a:rPr>
              <a:t>SAFE TOOL EXECUTION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34072" y="2331720"/>
            <a:ext cx="2633472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19" b="0">
                <a:solidFill>
                  <a:srgbClr val="171126"/>
                </a:solidFill>
                <a:latin typeface="Aptos"/>
              </a:rPr>
              <a:t>Schema validation + fingerprints protect state-changing calls from duplication.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566160"/>
            <a:ext cx="2907792" cy="1417320"/>
          </a:xfrm>
          <a:prstGeom prst="roundRect">
            <a:avLst/>
          </a:prstGeom>
          <a:solidFill>
            <a:srgbClr val="EEE8FF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3712463"/>
            <a:ext cx="263347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50" b="1">
                <a:solidFill>
                  <a:srgbClr val="6D28D9"/>
                </a:solidFill>
                <a:latin typeface="Aptos"/>
              </a:rPr>
              <a:t>MULTIMODAL GROUNDING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4114800"/>
            <a:ext cx="2633472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19" b="0">
                <a:solidFill>
                  <a:srgbClr val="171126"/>
                </a:solidFill>
                <a:latin typeface="Aptos"/>
              </a:rPr>
              <a:t>Text, WAV and PNG events are normalized; ambiguous/missing metadata can trigger clarification.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05072" y="3566160"/>
            <a:ext cx="2907792" cy="1417320"/>
          </a:xfrm>
          <a:prstGeom prst="roundRect">
            <a:avLst/>
          </a:prstGeom>
          <a:solidFill>
            <a:srgbClr val="E8F0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42232" y="3712463"/>
            <a:ext cx="263347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50" b="1">
                <a:solidFill>
                  <a:srgbClr val="2563EB"/>
                </a:solidFill>
                <a:latin typeface="Aptos"/>
              </a:rPr>
              <a:t>DYNAMIC 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42232" y="4114800"/>
            <a:ext cx="2633472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19" b="0">
                <a:solidFill>
                  <a:srgbClr val="171126"/>
                </a:solidFill>
                <a:latin typeface="Aptos"/>
              </a:rPr>
              <a:t>Runtime tool manifests allow previously unseen tools to be registered.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96912" y="3566160"/>
            <a:ext cx="2907792" cy="1417320"/>
          </a:xfrm>
          <a:prstGeom prst="roundRect">
            <a:avLst/>
          </a:prstGeom>
          <a:solidFill>
            <a:srgbClr val="E4F8F5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34072" y="3712463"/>
            <a:ext cx="263347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50" b="1">
                <a:solidFill>
                  <a:srgbClr val="0D9488"/>
                </a:solidFill>
                <a:latin typeface="Aptos"/>
              </a:rPr>
              <a:t>TRACEABILITY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34072" y="4114800"/>
            <a:ext cx="2633472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19" b="0">
                <a:solidFill>
                  <a:srgbClr val="171126"/>
                </a:solidFill>
                <a:latin typeface="Aptos"/>
              </a:rPr>
              <a:t>Inputs, actions and decisions are recorded with timestamps, call IDs and reasons.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440680"/>
            <a:ext cx="105613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250" b="0">
                <a:solidFill>
                  <a:srgbClr val="5C556D"/>
                </a:solidFill>
                <a:latin typeface="Aptos"/>
              </a:rPr>
              <a:t>Use-case direction supported by the architecture: in-car assistants, customer support, troubleshooting and accessibility scenarios where intent can change mid-task.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547104"/>
            <a:ext cx="71323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750" b="1">
                <a:solidFill>
                  <a:srgbClr val="5C556D"/>
                </a:solidFill>
                <a:latin typeface="Aptos"/>
              </a:rPr>
              <a:t>SAMSUNG PRISM • GENERATIVE AI HACKATHON • THEME 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519672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800" b="0">
                <a:solidFill>
                  <a:srgbClr val="5C556D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99669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700" b="1">
                <a:solidFill>
                  <a:srgbClr val="6D28D9"/>
                </a:solidFill>
                <a:latin typeface="Aptos"/>
              </a:rPr>
              <a:t>Results, Limitations &amp;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14400"/>
            <a:ext cx="10607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50" b="0">
                <a:solidFill>
                  <a:srgbClr val="5C556D"/>
                </a:solidFill>
                <a:latin typeface="Aptos"/>
              </a:rPr>
              <a:t>A focused prototype with clear next steps for full benchmark 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93192"/>
            <a:ext cx="411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1100" b="1">
                <a:solidFill>
                  <a:srgbClr val="6D28D9"/>
                </a:solidFill>
                <a:latin typeface="Aptos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07592"/>
            <a:ext cx="10881360" cy="16459"/>
          </a:xfrm>
          <a:prstGeom prst="rect">
            <a:avLst/>
          </a:prstGeom>
          <a:solidFill>
            <a:srgbClr val="E0D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664208"/>
            <a:ext cx="3337560" cy="4434840"/>
          </a:xfrm>
          <a:prstGeom prst="roundRect">
            <a:avLst/>
          </a:prstGeom>
          <a:solidFill>
            <a:srgbClr val="E4F8F5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1920240"/>
            <a:ext cx="100584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984" y="1947672"/>
            <a:ext cx="89611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000" b="1">
                <a:solidFill>
                  <a:srgbClr val="0D9488"/>
                </a:solidFill>
                <a:latin typeface="Aptos"/>
              </a:rPr>
              <a:t>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14600"/>
            <a:ext cx="269748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900" b="1">
                <a:solidFill>
                  <a:srgbClr val="171126"/>
                </a:solidFill>
                <a:latin typeface="Aptos"/>
              </a:rPr>
              <a:t>266 / 266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90672"/>
            <a:ext cx="26974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00" b="1">
                <a:solidFill>
                  <a:srgbClr val="0D9488"/>
                </a:solidFill>
                <a:latin typeface="Aptos"/>
              </a:rPr>
              <a:t>repository tests passed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794760"/>
            <a:ext cx="2697480" cy="1508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800"/>
              </a:spcAft>
              <a:defRPr sz="1220">
                <a:solidFill>
                  <a:srgbClr val="171126"/>
                </a:solidFill>
                <a:latin typeface="Aptos"/>
              </a:defRPr>
            </a:pPr>
            <a:r>
              <a:t>• Offline deterministic demo passes.</a:t>
            </a:r>
          </a:p>
          <a:p>
            <a:pPr>
              <a:spcAft>
                <a:spcPts val="800"/>
              </a:spcAft>
              <a:defRPr sz="1220">
                <a:solidFill>
                  <a:srgbClr val="171126"/>
                </a:solidFill>
                <a:latin typeface="Aptos"/>
              </a:defRPr>
            </a:pPr>
            <a:r>
              <a:t>• Interruption → cancellation → state update → new task works.</a:t>
            </a:r>
          </a:p>
          <a:p>
            <a:pPr>
              <a:spcAft>
                <a:spcPts val="800"/>
              </a:spcAft>
              <a:defRPr sz="1220">
                <a:solidFill>
                  <a:srgbClr val="171126"/>
                </a:solidFill>
                <a:latin typeface="Aptos"/>
              </a:defRPr>
            </a:pPr>
            <a:r>
              <a:t>• Late stale result is structurally ignored.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1664208"/>
            <a:ext cx="3337560" cy="4434840"/>
          </a:xfrm>
          <a:prstGeom prst="roundRect">
            <a:avLst/>
          </a:prstGeom>
          <a:solidFill>
            <a:srgbClr val="F8F7FC"/>
          </a:solidFill>
          <a:ln w="12700">
            <a:solidFill>
              <a:srgbClr val="E0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07992" y="1920240"/>
            <a:ext cx="1600200" cy="329184"/>
          </a:xfrm>
          <a:prstGeom prst="roundRect">
            <a:avLst/>
          </a:prstGeom>
          <a:solidFill>
            <a:srgbClr val="FFEFF3"/>
          </a:solidFill>
          <a:ln w="12700">
            <a:solidFill>
              <a:srgbClr val="FF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2855" y="1947672"/>
            <a:ext cx="149047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000" b="1">
                <a:solidFill>
                  <a:srgbClr val="DC2650"/>
                </a:solidFill>
                <a:latin typeface="Aptos"/>
              </a:rPr>
              <a:t>CURRENT LIMITATIONS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2514600"/>
            <a:ext cx="2697480" cy="2057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0"/>
              </a:spcAft>
              <a:defRPr sz="1220">
                <a:solidFill>
                  <a:srgbClr val="171126"/>
                </a:solidFill>
                <a:latin typeface="Aptos"/>
              </a:defRPr>
            </a:pPr>
            <a:r>
              <a:t>• No end-to-end speech I/O layer is included in this repository.</a:t>
            </a:r>
          </a:p>
          <a:p>
            <a:pPr>
              <a:spcAft>
                <a:spcPts val="1000"/>
              </a:spcAft>
              <a:defRPr sz="1220">
                <a:solidFill>
                  <a:srgbClr val="171126"/>
                </a:solidFill>
                <a:latin typeface="Aptos"/>
              </a:defRPr>
            </a:pPr>
            <a:r>
              <a:t>• The current demo can run with a deterministic offline model stand-in.</a:t>
            </a:r>
          </a:p>
          <a:p>
            <a:pPr>
              <a:spcAft>
                <a:spcPts val="1000"/>
              </a:spcAft>
              <a:defRPr sz="1220">
                <a:solidFill>
                  <a:srgbClr val="171126"/>
                </a:solidFill>
                <a:latin typeface="Aptos"/>
              </a:defRPr>
            </a:pPr>
            <a:r>
              <a:t>• No official FDB-v3 benchmark score is included in the project files.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4983480"/>
            <a:ext cx="269748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50" b="1">
                <a:solidFill>
                  <a:srgbClr val="5C556D"/>
                </a:solidFill>
                <a:latin typeface="Aptos"/>
              </a:rPr>
              <a:t>These are explicit scope boundaries rather than claimed capabilities.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90688" y="1664208"/>
            <a:ext cx="3639312" cy="4434840"/>
          </a:xfrm>
          <a:prstGeom prst="roundRect">
            <a:avLst/>
          </a:prstGeom>
          <a:solidFill>
            <a:srgbClr val="EEE8FF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46720" y="1920240"/>
            <a:ext cx="114300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01584" y="1947672"/>
            <a:ext cx="1033271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000" b="1">
                <a:solidFill>
                  <a:srgbClr val="6D28D9"/>
                </a:solidFill>
                <a:latin typeface="Aptos"/>
              </a:rPr>
              <a:t>WHAT'S NEXT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2514600"/>
            <a:ext cx="2971800" cy="24231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900"/>
              </a:spcAft>
              <a:defRPr sz="1200">
                <a:solidFill>
                  <a:srgbClr val="171126"/>
                </a:solidFill>
                <a:latin typeface="Aptos"/>
              </a:defRPr>
            </a:pPr>
            <a:r>
              <a:t>• Wrap the core agent in the required LiveKit voice-agent interface.</a:t>
            </a:r>
          </a:p>
          <a:p>
            <a:pPr>
              <a:spcAft>
                <a:spcPts val="900"/>
              </a:spcAft>
              <a:defRPr sz="1200">
                <a:solidFill>
                  <a:srgbClr val="171126"/>
                </a:solidFill>
                <a:latin typeface="Aptos"/>
              </a:defRPr>
            </a:pPr>
            <a:r>
              <a:t>• Run FDB-v3 end to end and record reproducible benchmark logs.</a:t>
            </a:r>
          </a:p>
          <a:p>
            <a:pPr>
              <a:spcAft>
                <a:spcPts val="900"/>
              </a:spcAft>
              <a:defRPr sz="1200">
                <a:solidFill>
                  <a:srgbClr val="171126"/>
                </a:solidFill>
                <a:latin typeface="Aptos"/>
              </a:defRPr>
            </a:pPr>
            <a:r>
              <a:t>• Add real audio interaction while preserving the same interruption controller.</a:t>
            </a:r>
          </a:p>
          <a:p>
            <a:pPr>
              <a:spcAft>
                <a:spcPts val="900"/>
              </a:spcAft>
              <a:defRPr sz="1200">
                <a:solidFill>
                  <a:srgbClr val="171126"/>
                </a:solidFill>
                <a:latin typeface="Aptos"/>
              </a:defRPr>
            </a:pPr>
            <a:r>
              <a:t>• Report latency, tool-selection and strict-pass metrics from the official evaluation flow.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5230368"/>
            <a:ext cx="2971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1">
                <a:solidFill>
                  <a:srgbClr val="5C556D"/>
                </a:solidFill>
                <a:latin typeface="Aptos"/>
              </a:rPr>
              <a:t>Submission placeholders: primary member details and final GitHub URL should be inserted before upload.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6309360"/>
            <a:ext cx="10698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400" b="1">
                <a:solidFill>
                  <a:srgbClr val="6D28D9"/>
                </a:solidFill>
                <a:latin typeface="Aptos"/>
              </a:rPr>
              <a:t>THANK YOU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547104"/>
            <a:ext cx="71323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750" b="1">
                <a:solidFill>
                  <a:srgbClr val="5C556D"/>
                </a:solidFill>
                <a:latin typeface="Aptos"/>
              </a:rPr>
              <a:t>SAMSUNG PRISM • GENERATIVE AI HACKATHON • THEME 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519672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800" b="0">
                <a:solidFill>
                  <a:srgbClr val="5C556D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